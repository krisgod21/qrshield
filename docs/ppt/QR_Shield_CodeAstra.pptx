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0"/>
            <a:ext cx="6578600" cy="965200"/>
          </a:xfrm>
          <a:prstGeom prst="rect">
            <a:avLst/>
          </a:prstGeom>
        </p:spPr>
      </p:pic>
      <p:pic>
        <p:nvPicPr>
          <p:cNvPr id="4" name="Picture 3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1600"/>
            <a:ext cx="863600" cy="863600"/>
          </a:xfrm>
          <a:prstGeom prst="rect">
            <a:avLst/>
          </a:prstGeom>
        </p:spPr>
      </p:pic>
      <p:pic>
        <p:nvPicPr>
          <p:cNvPr id="5" name="Picture 4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3033" y="101600"/>
            <a:ext cx="780626" cy="863600"/>
          </a:xfrm>
          <a:prstGeom prst="rect">
            <a:avLst/>
          </a:prstGeom>
        </p:spPr>
      </p:pic>
      <p:pic>
        <p:nvPicPr>
          <p:cNvPr id="6" name="Picture 5" descr="codeast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2806" y="-453813"/>
            <a:ext cx="5676900" cy="378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56000" y="1998133"/>
            <a:ext cx="4487333" cy="44026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Times New Roman"/>
              </a:rPr>
              <a:t>Team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980266"/>
            <a:ext cx="6942666" cy="38946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Times New Roman"/>
              </a:rPr>
              <a:t>Team ID : </a:t>
            </a:r>
            <a:r>
              <a:rPr sz="2000" b="0" i="0">
                <a:solidFill>
                  <a:srgbClr val="DDF7F3"/>
                </a:solidFill>
                <a:latin typeface="Times New Roman"/>
              </a:rPr>
              <a:t>&lt;TEAM ID&gt;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3378200"/>
            <a:ext cx="6942666" cy="38946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Times New Roman"/>
              </a:rPr>
              <a:t>Team Name : </a:t>
            </a:r>
            <a:r>
              <a:rPr sz="2000" b="0" i="0">
                <a:solidFill>
                  <a:srgbClr val="DDF7F3"/>
                </a:solidFill>
                <a:latin typeface="Times New Roman"/>
              </a:rPr>
              <a:t>&lt;TEAM NAME&gt;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3776133"/>
            <a:ext cx="6942666" cy="38946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Times New Roman"/>
              </a:rPr>
              <a:t>Leader Name : </a:t>
            </a:r>
            <a:r>
              <a:rPr sz="2000" b="0" i="0">
                <a:solidFill>
                  <a:srgbClr val="DDF7F3"/>
                </a:solidFill>
                <a:latin typeface="Times New Roman"/>
              </a:rPr>
              <a:t>&lt;LEADER NAME&gt;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4174066"/>
            <a:ext cx="6942666" cy="38946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Times New Roman"/>
              </a:rPr>
              <a:t>Domain Chosen : </a:t>
            </a:r>
            <a:r>
              <a:rPr sz="2000" b="0" i="0">
                <a:solidFill>
                  <a:srgbClr val="DDF7F3"/>
                </a:solidFill>
                <a:latin typeface="Times New Roman"/>
              </a:rPr>
              <a:t>Cybersecurity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4572000"/>
            <a:ext cx="6942666" cy="93133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Times New Roman"/>
              </a:rPr>
              <a:t>Problem Statement : </a:t>
            </a:r>
            <a:r>
              <a:rPr sz="2000" b="0" i="0">
                <a:solidFill>
                  <a:srgbClr val="DDF7F3"/>
                </a:solidFill>
                <a:latin typeface="Times New Roman"/>
              </a:rPr>
              <a:t>QR Code Safety Scanner – scans QR codes before opening them and warns users if the destination looks malicious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66666" y="5080000"/>
            <a:ext cx="3217333" cy="1270000"/>
          </a:xfrm>
          <a:prstGeom prst="roundRect">
            <a:avLst>
              <a:gd name="adj" fmla="val 12000"/>
            </a:avLst>
          </a:prstGeom>
          <a:solidFill>
            <a:srgbClr val="0B1220">
              <a:alpha val="72000"/>
            </a:srgbClr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3666" y="5164666"/>
            <a:ext cx="3048000" cy="508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"/>
              </a:rPr>
              <a:t>🛡 </a:t>
            </a:r>
            <a:r>
              <a:rPr sz="3000" b="1" i="0">
                <a:solidFill>
                  <a:srgbClr val="2DD4BF"/>
                </a:solidFill>
                <a:latin typeface="Segoe UI"/>
              </a:rPr>
              <a:t>QR Shield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3666" y="5689600"/>
            <a:ext cx="2963333" cy="59266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Segoe UI"/>
              </a:rPr>
              <a:t>Know what a QR will make you do — before you do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0"/>
            <a:ext cx="6578600" cy="965200"/>
          </a:xfrm>
          <a:prstGeom prst="rect">
            <a:avLst/>
          </a:prstGeom>
        </p:spPr>
      </p:pic>
      <p:pic>
        <p:nvPicPr>
          <p:cNvPr id="4" name="Picture 3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1600"/>
            <a:ext cx="863600" cy="863600"/>
          </a:xfrm>
          <a:prstGeom prst="rect">
            <a:avLst/>
          </a:prstGeom>
        </p:spPr>
      </p:pic>
      <p:pic>
        <p:nvPicPr>
          <p:cNvPr id="5" name="Picture 4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3033" y="101600"/>
            <a:ext cx="780626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117600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Times New Roman"/>
              </a:rPr>
              <a:t>Problem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141E35">
              <a:alpha val="85000"/>
            </a:srgbClr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261518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2DD4BF"/>
                </a:solidFill>
                <a:latin typeface="Segoe UI"/>
              </a:rPr>
              <a:t>24 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77440"/>
            <a:ext cx="2432303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UPI transactions every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07792"/>
            <a:ext cx="261518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1">
                <a:solidFill>
                  <a:srgbClr val="B8C4DE"/>
                </a:solidFill>
                <a:latin typeface="Segoe UI"/>
              </a:rPr>
              <a:t>NPCI, Sep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7830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141E35">
              <a:alpha val="85000"/>
            </a:srgbClr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56432" y="1828800"/>
            <a:ext cx="261518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2DD4BF"/>
                </a:solidFill>
                <a:latin typeface="Segoe UI"/>
              </a:rPr>
              <a:t>73 crore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77440"/>
            <a:ext cx="2432303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UPI QR codes in circulation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907792"/>
            <a:ext cx="261518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1">
                <a:solidFill>
                  <a:srgbClr val="B8C4DE"/>
                </a:solidFill>
                <a:latin typeface="Segoe UI"/>
              </a:rPr>
              <a:t>Worldline,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7830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141E35">
              <a:alpha val="85000"/>
            </a:srgbClr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54496" y="1828800"/>
            <a:ext cx="261518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EF4444"/>
                </a:solidFill>
                <a:latin typeface="Segoe UI"/>
              </a:rPr>
              <a:t>2.7×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77440"/>
            <a:ext cx="2432303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QR-code fraud cases in 2 years
14,625 → 39,638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907792"/>
            <a:ext cx="261518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1">
                <a:solidFill>
                  <a:srgbClr val="B8C4DE"/>
                </a:solidFill>
                <a:latin typeface="Segoe UI"/>
              </a:rPr>
              <a:t>Lok Sabha, FY22→FY24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7830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141E35">
              <a:alpha val="85000"/>
            </a:srgbClr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0" y="1828800"/>
            <a:ext cx="261518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EF4444"/>
                </a:solidFill>
                <a:latin typeface="Segoe UI"/>
              </a:rPr>
              <a:t>₹805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377440"/>
            <a:ext cx="2432303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lost to 10.6 lakh UPI frauds
in just 8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07792"/>
            <a:ext cx="261518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1">
                <a:solidFill>
                  <a:srgbClr val="B8C4DE"/>
                </a:solidFill>
                <a:latin typeface="Segoe UI"/>
              </a:rPr>
              <a:t>MoF, Lok Sabha, Apr–Nov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36499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8C4DE"/>
                </a:solidFill>
                <a:latin typeface="Segoe UI"/>
              </a:rPr>
              <a:t>HOW PEOPLE GET CHEATED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57600"/>
            <a:ext cx="3493008" cy="1325880"/>
          </a:xfrm>
          <a:prstGeom prst="roundRect">
            <a:avLst>
              <a:gd name="adj" fmla="val 8000"/>
            </a:avLst>
          </a:prstGeom>
          <a:solidFill>
            <a:srgbClr val="1C294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8096" y="3749039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3749039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“Scan to receive money”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411480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8C4DE"/>
                </a:solidFill>
                <a:latin typeface="Segoe UI"/>
              </a:rPr>
              <a:t>Fake buyers &amp; ‘customer care’ send a QR. Scanning a UPI QR always PAYS — victims enter their PIN.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3657600"/>
            <a:ext cx="3493008" cy="1325880"/>
          </a:xfrm>
          <a:prstGeom prst="roundRect">
            <a:avLst>
              <a:gd name="adj" fmla="val 8000"/>
            </a:avLst>
          </a:prstGeom>
          <a:solidFill>
            <a:srgbClr val="1C294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25696" y="3749039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4336" y="3749039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Swapped shop stickers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4336" y="411480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8C4DE"/>
                </a:solidFill>
                <a:latin typeface="Segoe UI"/>
              </a:rPr>
              <a:t>Fraudster’s QR pasted over the shop’s: Khajuraho 2025, Aizawl 2024, Goa ₹49.68 lakh (2026).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3657600"/>
            <a:ext cx="3493008" cy="1325880"/>
          </a:xfrm>
          <a:prstGeom prst="roundRect">
            <a:avLst>
              <a:gd name="adj" fmla="val 8000"/>
            </a:avLst>
          </a:prstGeom>
          <a:solidFill>
            <a:srgbClr val="1C294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83296" y="3749039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6" y="3749039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Fake bank / KYC / e-challan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31936" y="411480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8C4DE"/>
                </a:solidFill>
                <a:latin typeface="Segoe UI"/>
              </a:rPr>
              <a:t>Lookalike sites, AutoPay mandates, APK downloads and *401# call-forward codes.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10863072" cy="1325880"/>
          </a:xfrm>
          <a:prstGeom prst="roundRect">
            <a:avLst>
              <a:gd name="adj" fmla="val 8000"/>
            </a:avLst>
          </a:prstGeom>
          <a:solidFill>
            <a:srgbClr val="2A1016">
              <a:alpha val="80000"/>
            </a:srgbClr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68680" y="5230368"/>
            <a:ext cx="10515600" cy="1234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Segoe UI"/>
              </a:rPr>
              <a:t>Root cause 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NPCI ended P2P ‘collect’ requests on 1 Oct 2025 — so the QR is now the scammer’s main lever. RBI, NPCI and police all say “don’t scan unknown QRs”, but nobody gives people a tool to check one.</a:t>
            </a:r>
          </a:p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The gap 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Existing scanners (Kaspersky, Trend Micro, phone cameras) only match links against blacklists. None understand UPI: who you pay, how much, AutoPay — or explain why in Hindi or Marathi.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0"/>
            <a:ext cx="6578600" cy="965200"/>
          </a:xfrm>
          <a:prstGeom prst="rect">
            <a:avLst/>
          </a:prstGeom>
        </p:spPr>
      </p:pic>
      <p:pic>
        <p:nvPicPr>
          <p:cNvPr id="4" name="Picture 3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1600"/>
            <a:ext cx="863600" cy="863600"/>
          </a:xfrm>
          <a:prstGeom prst="rect">
            <a:avLst/>
          </a:prstGeom>
        </p:spPr>
      </p:pic>
      <p:pic>
        <p:nvPicPr>
          <p:cNvPr id="5" name="Picture 4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3033" y="101600"/>
            <a:ext cx="780626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117600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Times New Roman"/>
              </a:rPr>
              <a:t>Proposed Solution &amp; Key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246120" cy="4892040"/>
          </a:xfrm>
          <a:prstGeom prst="roundRect">
            <a:avLst>
              <a:gd name="adj" fmla="val 9000"/>
            </a:avLst>
          </a:prstGeom>
          <a:solidFill>
            <a:srgbClr val="0B1220"/>
          </a:solidFill>
          <a:ln w="25400">
            <a:solidFill>
              <a:srgbClr val="556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96112" y="1938528"/>
            <a:ext cx="2916936" cy="566928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1956816"/>
            <a:ext cx="2916936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✕  DANGER — do not open</a:t>
            </a:r>
          </a:p>
          <a:p>
            <a:pPr algn="l"/>
            <a:r>
              <a:rPr sz="900" b="0" i="0">
                <a:solidFill>
                  <a:srgbClr val="FFE0E0"/>
                </a:solidFill>
                <a:latin typeface="Segoe UI"/>
              </a:rPr>
              <a:t>Risk 100/100 · 0.4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78608"/>
            <a:ext cx="2916936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You are about to PAY ₹4,999 to “Amazon Refund Dept”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108960"/>
            <a:ext cx="2916936" cy="932688"/>
          </a:xfrm>
          <a:prstGeom prst="roundRect">
            <a:avLst>
              <a:gd name="adj" fmla="val 12000"/>
            </a:avLst>
          </a:prstGeom>
          <a:solidFill>
            <a:srgbClr val="141E35"/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3127248"/>
            <a:ext cx="2916936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Segoe UI"/>
              </a:rPr>
              <a:t>YOU PAY  </a:t>
            </a:r>
            <a:r>
              <a:rPr sz="2000" b="1" i="0">
                <a:solidFill>
                  <a:srgbClr val="FFFFFF"/>
                </a:solidFill>
                <a:latin typeface="Segoe UI"/>
              </a:rPr>
              <a:t>₹4,999 🔒</a:t>
            </a:r>
          </a:p>
          <a:p>
            <a:pPr algn="l"/>
            <a:r>
              <a:rPr sz="1000" b="0" i="0">
                <a:solidFill>
                  <a:srgbClr val="2DD4BF"/>
                </a:solidFill>
                <a:latin typeface="Consolas"/>
              </a:rPr>
              <a:t>refund.desk2291@ybl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721608"/>
            <a:ext cx="2916936" cy="320040"/>
          </a:xfrm>
          <a:prstGeom prst="rect">
            <a:avLst/>
          </a:prstGeom>
          <a:solidFill>
            <a:srgbClr val="45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3730752"/>
            <a:ext cx="2916936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ECACA"/>
                </a:solidFill>
                <a:latin typeface="Segoe UI"/>
              </a:rPr>
              <a:t>💸 Scanning a QR never gives you money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4133088"/>
            <a:ext cx="2916936" cy="374904"/>
          </a:xfrm>
          <a:prstGeom prst="roundRect">
            <a:avLst>
              <a:gd name="adj" fmla="val 18000"/>
            </a:avLst>
          </a:prstGeom>
          <a:solidFill>
            <a:srgbClr val="141E35"/>
          </a:solidFill>
          <a:ln w="12700">
            <a:solidFill>
              <a:srgbClr val="5A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160520"/>
            <a:ext cx="282549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⛔ Says ‘refund’ — you never pay to get a refund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562856"/>
            <a:ext cx="2916936" cy="374904"/>
          </a:xfrm>
          <a:prstGeom prst="roundRect">
            <a:avLst>
              <a:gd name="adj" fmla="val 18000"/>
            </a:avLst>
          </a:prstGeom>
          <a:solidFill>
            <a:srgbClr val="141E35"/>
          </a:solidFill>
          <a:ln w="12700">
            <a:solidFill>
              <a:srgbClr val="5A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9264" y="4590288"/>
            <a:ext cx="282549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⚠️ Official name on an ordinary app UPI 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4992624"/>
            <a:ext cx="2916936" cy="374904"/>
          </a:xfrm>
          <a:prstGeom prst="roundRect">
            <a:avLst>
              <a:gd name="adj" fmla="val 18000"/>
            </a:avLst>
          </a:prstGeom>
          <a:solidFill>
            <a:srgbClr val="141E35"/>
          </a:solidFill>
          <a:ln w="12700">
            <a:solidFill>
              <a:srgbClr val="5A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9264" y="5020056"/>
            <a:ext cx="282549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⚠️ Amount locked; receiver looks like a person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5422392"/>
            <a:ext cx="2916936" cy="374904"/>
          </a:xfrm>
          <a:prstGeom prst="roundRect">
            <a:avLst>
              <a:gd name="adj" fmla="val 18000"/>
            </a:avLst>
          </a:prstGeom>
          <a:solidFill>
            <a:srgbClr val="141E35"/>
          </a:solidFill>
          <a:ln w="12700">
            <a:solidFill>
              <a:srgbClr val="5A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49824"/>
            <a:ext cx="282549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👥 Reported 6 times by other 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6062472"/>
            <a:ext cx="1412748" cy="384048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6112" y="6099048"/>
            <a:ext cx="145846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4121A"/>
                </a:solidFill>
                <a:latin typeface="Segoe UI"/>
              </a:rPr>
              <a:t>🛡 Don't pay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00300" y="6062472"/>
            <a:ext cx="1412748" cy="384048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354580" y="6099048"/>
            <a:ext cx="145846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B8C4DE"/>
                </a:solidFill>
                <a:latin typeface="Segoe UI"/>
              </a:rPr>
              <a:t>Open anyway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629400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B8C4DE"/>
                </a:solidFill>
                <a:latin typeface="Segoe UI"/>
              </a:rPr>
              <a:t>EN | हिं | मरा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1737360"/>
            <a:ext cx="3703320" cy="1536192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361688" y="1847088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1865376"/>
            <a:ext cx="29260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2DD4BF"/>
                </a:solidFill>
                <a:latin typeface="Segoe UI"/>
              </a:rPr>
              <a:t>UPI-aware decoding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2240280"/>
            <a:ext cx="292607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Shows who you PAY, how much, AutoPay mandates; flags lookalike UPI IDs (@okaxisbank, @ybI) &amp; fake ‘refund’ / ‘KYC’ notes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1737360"/>
            <a:ext cx="3703320" cy="1536192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174736" y="1847088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808" y="1865376"/>
            <a:ext cx="29260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2DD4BF"/>
                </a:solidFill>
                <a:latin typeface="Segoe UI"/>
              </a:rPr>
              <a:t>“Receiving money?”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2240280"/>
            <a:ext cx="292607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One tap tells us your intent. Any UPI QR then becomes an instant red stop — kills the #1 scam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3383279"/>
            <a:ext cx="3703320" cy="1536192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361688" y="3493007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511295"/>
            <a:ext cx="29260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2DD4BF"/>
                </a:solidFill>
                <a:latin typeface="Segoe UI"/>
              </a:rPr>
              <a:t>Reasons in your language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886199"/>
            <a:ext cx="292607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Plain explanations in English, हिंदी &amp; मराठी — written for shopkeepers &amp; parents, not engineers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5008" y="3383279"/>
            <a:ext cx="3703320" cy="1536192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174736" y="3493007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0808" y="3511295"/>
            <a:ext cx="29260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2DD4BF"/>
                </a:solidFill>
                <a:latin typeface="Segoe UI"/>
              </a:rPr>
              <a:t>Shopkeeper Mode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50808" y="3886199"/>
            <a:ext cx="292607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Register your QR once; a 2-second scan of the counter sticker catches a swap before customers pay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51960" y="5029200"/>
            <a:ext cx="3703320" cy="1536192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361688" y="5138928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5157216"/>
            <a:ext cx="29260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2DD4BF"/>
                </a:solidFill>
                <a:latin typeface="Segoe UI"/>
              </a:rPr>
              <a:t>Every QR 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5532120"/>
            <a:ext cx="292607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Links, Wi-Fi (fake ‘RailWire’), *401# call-forward codes, APKs, AutoPay, Bharat QR checksum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65008" y="5029200"/>
            <a:ext cx="3703320" cy="1536192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74736" y="5138928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50808" y="5157216"/>
            <a:ext cx="29260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2DD4BF"/>
                </a:solidFill>
                <a:latin typeface="Segoe UI"/>
              </a:rPr>
              <a:t>Community + offline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50808" y="5532120"/>
            <a:ext cx="292607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Hashed ‘Report this QR’ counts; built-in rules still give a verdict with no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0"/>
            <a:ext cx="6578600" cy="965200"/>
          </a:xfrm>
          <a:prstGeom prst="rect">
            <a:avLst/>
          </a:prstGeom>
        </p:spPr>
      </p:pic>
      <p:pic>
        <p:nvPicPr>
          <p:cNvPr id="4" name="Picture 3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1600"/>
            <a:ext cx="863600" cy="863600"/>
          </a:xfrm>
          <a:prstGeom prst="rect">
            <a:avLst/>
          </a:prstGeom>
        </p:spPr>
      </p:pic>
      <p:pic>
        <p:nvPicPr>
          <p:cNvPr id="5" name="Picture 4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3033" y="101600"/>
            <a:ext cx="780626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117600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Times New Roman"/>
              </a:rPr>
              <a:t>Technical approach &amp; Innovation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141E35">
              <a:alpha val="90000"/>
            </a:srgbClr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1856231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📱 Phone PWA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1901952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B8C4DE"/>
                </a:solidFill>
                <a:latin typeface="Segoe UI"/>
              </a:rPr>
              <a:t>Camera / gallery decode
ZXing-C++ WASM
sends only decoded 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0048" y="2446020"/>
            <a:ext cx="201168" cy="0"/>
          </a:xfrm>
          <a:prstGeom prst="line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1216" y="178308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141E35">
              <a:alpha val="90000"/>
            </a:srgbClr>
          </a:solidFill>
          <a:ln w="1905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871216" y="1856231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🧭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40280"/>
            <a:ext cx="1901952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B8C4DE"/>
                </a:solidFill>
                <a:latin typeface="Segoe UI"/>
              </a:rPr>
              <a:t>UPI · Bharat QR · URL
Wi-Fi · tel/SMS · text
AutoPay · app links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82896" y="2446020"/>
            <a:ext cx="201168" cy="0"/>
          </a:xfrm>
          <a:prstGeom prst="line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84064" y="178308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141E35">
              <a:alpha val="90000"/>
            </a:srgbClr>
          </a:solidFill>
          <a:ln w="1905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84064" y="1856231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🔬 Analyzers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240280"/>
            <a:ext cx="1901952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B8C4DE"/>
                </a:solidFill>
                <a:latin typeface="Segoe UI"/>
              </a:rPr>
              <a:t>UPI semantics &amp; handles
URL lookalikes &amp; intel
Wi-Fi / USSD rules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95744" y="2446020"/>
            <a:ext cx="201168" cy="0"/>
          </a:xfrm>
          <a:prstGeom prst="line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96912" y="178308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141E35">
              <a:alpha val="90000"/>
            </a:srgbClr>
          </a:solidFill>
          <a:ln w="1905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296912" y="1856231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⚖️ Risk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6" y="2240280"/>
            <a:ext cx="1901952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B8C4DE"/>
                </a:solidFill>
                <a:latin typeface="Segoe UI"/>
              </a:rPr>
              <a:t>Weighted signals → 0–100
SAFE / CAUTION / DANGER
+ reasons in 3 languages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08592" y="2446020"/>
            <a:ext cx="201168" cy="0"/>
          </a:xfrm>
          <a:prstGeom prst="line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9760" y="178308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141E35">
              <a:alpha val="90000"/>
            </a:srgbClr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09760" y="1856231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✅ Verdict &lt; 3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2240280"/>
            <a:ext cx="1901952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B8C4DE"/>
                </a:solidFill>
                <a:latin typeface="Segoe UI"/>
              </a:rPr>
              <a:t>Don’t open / Open anyway
Report · History
Shopkeeper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1481328"/>
            <a:ext cx="6675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2DD4BF"/>
                </a:solidFill>
                <a:latin typeface="Segoe UI"/>
              </a:rPr>
              <a:t>FastAPI server (Python) — the link is never opened on the phone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3375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C2947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95528" y="3401568"/>
            <a:ext cx="33832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Segoe UI"/>
              </a:rPr>
              <a:t>🧠 Offline rules (always 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3767328"/>
            <a:ext cx="338328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Unicode TR39 ‘skeleton’ → lookalike letters (onlinesbі = onlinesbi)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Typo-squats of 50+ Indian banks, govt &amp; brands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181 real UPI handles · scam words EN/HI/MR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.bank.in / .gov.in trust · risky TLDs · APK/USSD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7" y="33375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C2947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44567" y="3401568"/>
            <a:ext cx="33832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🌐 Online checks (time-boxed ≤ 2.2 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7" y="3767328"/>
            <a:ext cx="338328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SSRF-safe redirect expansion (IP-pinned, 5 hops)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RDAP domain age (new = risky)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OpenPhish · PhishTank · URLhaus feeds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Google Safe Browsing (optional key)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33375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0E2B2A">
              <a:alpha val="90000"/>
            </a:srgbClr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321040" y="3401568"/>
            <a:ext cx="31089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Segoe UI"/>
              </a:rPr>
              <a:t>💡 Innovation / USP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767328"/>
            <a:ext cx="310896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First scanner that explains UPI before the payment app opens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Explainable &amp; deterministic — no black box; works offline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Catches brand-new scams blacklists haven’t seen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Merchant-side sticker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34924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8C4DE"/>
                </a:solidFill>
                <a:latin typeface="Segoe UI"/>
              </a:rPr>
              <a:t>TECH STACK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6692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5800" y="5705856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React + TypeScript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95728" y="566928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395728" y="5705856"/>
            <a:ext cx="822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Vite PWA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28416" y="5669280"/>
            <a:ext cx="2455164" cy="347472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328416" y="5705856"/>
            <a:ext cx="245516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barcode-detector (ZXing WASM)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93308" y="5669280"/>
            <a:ext cx="1289304" cy="347472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893308" y="5705856"/>
            <a:ext cx="128930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Python FastAPI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92340" y="5669280"/>
            <a:ext cx="589788" cy="347472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292340" y="5705856"/>
            <a:ext cx="58978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httpx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91856" y="5669280"/>
            <a:ext cx="1444752" cy="347472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991856" y="5705856"/>
            <a:ext cx="144475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tldextract + PSL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46336" y="5669280"/>
            <a:ext cx="900684" cy="347472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546336" y="5705856"/>
            <a:ext cx="90068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RapidFuzz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6108192"/>
            <a:ext cx="1133856" cy="347472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85800" y="6144768"/>
            <a:ext cx="1133856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Unicode TR39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929384" y="6108192"/>
            <a:ext cx="667512" cy="347472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929384" y="6144768"/>
            <a:ext cx="66751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SQLite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06624" y="6108192"/>
            <a:ext cx="1677924" cy="347472"/>
          </a:xfrm>
          <a:prstGeom prst="roundRect">
            <a:avLst>
              <a:gd name="adj" fmla="val 50000"/>
            </a:avLst>
          </a:prstGeom>
          <a:solidFill>
            <a:srgbClr val="141E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706624" y="6144768"/>
            <a:ext cx="167792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pytest (140+ tests)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0"/>
            <a:ext cx="6578600" cy="965200"/>
          </a:xfrm>
          <a:prstGeom prst="rect">
            <a:avLst/>
          </a:prstGeom>
        </p:spPr>
      </p:pic>
      <p:pic>
        <p:nvPicPr>
          <p:cNvPr id="4" name="Picture 3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1600"/>
            <a:ext cx="863600" cy="863600"/>
          </a:xfrm>
          <a:prstGeom prst="rect">
            <a:avLst/>
          </a:prstGeom>
        </p:spPr>
      </p:pic>
      <p:pic>
        <p:nvPicPr>
          <p:cNvPr id="5" name="Picture 4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3033" y="101600"/>
            <a:ext cx="780626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117600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Times New Roman"/>
              </a:rPr>
              <a:t>Impact &amp;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8C4DE"/>
                </a:solidFill>
                <a:latin typeface="Segoe UI"/>
              </a:rPr>
              <a:t>TARGET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29968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103120"/>
            <a:ext cx="1874519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UPI users &amp; senior citizens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633472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B8C4DE"/>
                </a:solidFill>
                <a:latin typeface="Segoe UI"/>
              </a:rPr>
              <a:t>Scan before you pay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29968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93008" y="2130552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6" y="2103120"/>
            <a:ext cx="1874519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Kirana &amp; small shopkeepers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6" y="2633472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B8C4DE"/>
                </a:solidFill>
                <a:latin typeface="Segoe UI"/>
              </a:rPr>
              <a:t>Daily sticker 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2029968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36208" y="2130552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103120"/>
            <a:ext cx="1874519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OLX/Quikr sellers &amp;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633472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B8C4DE"/>
                </a:solidFill>
                <a:latin typeface="Segoe UI"/>
              </a:rPr>
              <a:t>‘Scan to receive’ targets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2029968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979408" y="2130552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6336" y="2103120"/>
            <a:ext cx="1874519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Banks, police &amp; colleges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2633472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B8C4DE"/>
                </a:solidFill>
                <a:latin typeface="Segoe UI"/>
              </a:rPr>
              <a:t>Awareness drives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9184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8C4DE"/>
                </a:solidFill>
                <a:latin typeface="Segoe UI"/>
              </a:rPr>
              <a:t>IMPACT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584448"/>
            <a:ext cx="5349240" cy="493776"/>
          </a:xfrm>
          <a:prstGeom prst="roundRect">
            <a:avLst>
              <a:gd name="adj" fmla="val 20000"/>
            </a:avLst>
          </a:prstGeom>
          <a:solidFill>
            <a:srgbClr val="1C294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630168"/>
            <a:ext cx="51663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🛑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Stops the #1 UPI scam at the moment of scanning — before the PIN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584448"/>
            <a:ext cx="5349240" cy="493776"/>
          </a:xfrm>
          <a:prstGeom prst="roundRect">
            <a:avLst>
              <a:gd name="adj" fmla="val 20000"/>
            </a:avLst>
          </a:prstGeom>
          <a:solidFill>
            <a:srgbClr val="1C294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54496" y="3630168"/>
            <a:ext cx="51663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🗣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Non-technical users understand WHY, in their own language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151376"/>
            <a:ext cx="5349240" cy="493776"/>
          </a:xfrm>
          <a:prstGeom prst="roundRect">
            <a:avLst>
              <a:gd name="adj" fmla="val 20000"/>
            </a:avLst>
          </a:prstGeom>
          <a:solidFill>
            <a:srgbClr val="1C294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8096" y="4197096"/>
            <a:ext cx="51663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🏪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Shopkeepers catch a swapped sticker before losing a day’s sales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4151376"/>
            <a:ext cx="5349240" cy="493776"/>
          </a:xfrm>
          <a:prstGeom prst="roundRect">
            <a:avLst>
              <a:gd name="adj" fmla="val 20000"/>
            </a:avLst>
          </a:prstGeom>
          <a:solidFill>
            <a:srgbClr val="1C294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54496" y="4197096"/>
            <a:ext cx="51663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🔒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Privacy-first: reports stored as hashes; links never open on the phone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84632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8C4DE"/>
                </a:solidFill>
                <a:latin typeface="Segoe UI"/>
              </a:rPr>
              <a:t>FUTURE SCOPE — ROADMAP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" y="5532120"/>
            <a:ext cx="10744200" cy="0"/>
          </a:xfrm>
          <a:prstGeom prst="line">
            <a:avLst/>
          </a:prstGeom>
          <a:ln w="3175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225295" y="543153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5696712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SDK /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598932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B8C4DE"/>
                </a:solidFill>
                <a:latin typeface="Segoe UI"/>
              </a:rPr>
              <a:t>for UPI apps &amp; banks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512064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DD4BF"/>
                </a:solidFill>
                <a:latin typeface="Segoe UI"/>
              </a:rPr>
              <a:t>Phase 1</a:t>
            </a:r>
          </a:p>
        </p:txBody>
      </p:sp>
      <p:sp>
        <p:nvSpPr>
          <p:cNvPr id="39" name="Oval 38"/>
          <p:cNvSpPr/>
          <p:nvPr/>
        </p:nvSpPr>
        <p:spPr>
          <a:xfrm>
            <a:off x="3557016" y="543153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5696712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Label OCR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98932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B8C4DE"/>
                </a:solidFill>
                <a:latin typeface="Segoe UI"/>
              </a:rPr>
              <a:t>printed name vs QR payload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12064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DD4BF"/>
                </a:solidFill>
                <a:latin typeface="Segoe UI"/>
              </a:rPr>
              <a:t>Phase 2</a:t>
            </a:r>
          </a:p>
        </p:txBody>
      </p:sp>
      <p:sp>
        <p:nvSpPr>
          <p:cNvPr id="43" name="Oval 42"/>
          <p:cNvSpPr/>
          <p:nvPr/>
        </p:nvSpPr>
        <p:spPr>
          <a:xfrm>
            <a:off x="5888736" y="543153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5696712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1930 &amp; Chakshu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598932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B8C4DE"/>
                </a:solidFill>
                <a:latin typeface="Segoe UI"/>
              </a:rPr>
              <a:t>one-tap reporting; DoT FRI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512064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DD4BF"/>
                </a:solidFill>
                <a:latin typeface="Segoe UI"/>
              </a:rPr>
              <a:t>Phase 3</a:t>
            </a:r>
          </a:p>
        </p:txBody>
      </p:sp>
      <p:sp>
        <p:nvSpPr>
          <p:cNvPr id="47" name="Oval 46"/>
          <p:cNvSpPr/>
          <p:nvPr/>
        </p:nvSpPr>
        <p:spPr>
          <a:xfrm>
            <a:off x="8220456" y="543153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59" y="5696712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More languages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59" y="598932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B8C4DE"/>
                </a:solidFill>
                <a:latin typeface="Segoe UI"/>
              </a:rPr>
              <a:t>+ voice explanations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512064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DD4BF"/>
                </a:solidFill>
                <a:latin typeface="Segoe UI"/>
              </a:rPr>
              <a:t>Phase 4</a:t>
            </a:r>
          </a:p>
        </p:txBody>
      </p:sp>
      <p:sp>
        <p:nvSpPr>
          <p:cNvPr id="51" name="Oval 50"/>
          <p:cNvSpPr/>
          <p:nvPr/>
        </p:nvSpPr>
        <p:spPr>
          <a:xfrm>
            <a:off x="10552176" y="543153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5480" y="5696712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On-device mode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598932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B8C4DE"/>
                </a:solidFill>
                <a:latin typeface="Segoe UI"/>
              </a:rPr>
              <a:t>fully offline rules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59" y="512064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DD4BF"/>
                </a:solidFill>
                <a:latin typeface="Segoe UI"/>
              </a:rPr>
              <a:t>Phase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0"/>
            <a:ext cx="6578600" cy="965200"/>
          </a:xfrm>
          <a:prstGeom prst="rect">
            <a:avLst/>
          </a:prstGeom>
        </p:spPr>
      </p:pic>
      <p:pic>
        <p:nvPicPr>
          <p:cNvPr id="4" name="Picture 3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1600"/>
            <a:ext cx="863600" cy="863600"/>
          </a:xfrm>
          <a:prstGeom prst="rect">
            <a:avLst/>
          </a:prstGeom>
        </p:spPr>
      </p:pic>
      <p:pic>
        <p:nvPicPr>
          <p:cNvPr id="5" name="Picture 4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3033" y="101600"/>
            <a:ext cx="780626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117600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Times New Roman"/>
              </a:rPr>
              <a:t>Supporting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8C4DE"/>
                </a:solidFill>
                <a:latin typeface="Segoe UI"/>
              </a:rPr>
              <a:t>USER WORKFLOW</a:t>
            </a:r>
          </a:p>
        </p:txBody>
      </p:sp>
      <p:sp>
        <p:nvSpPr>
          <p:cNvPr id="8" name="Pentagon 7"/>
          <p:cNvSpPr/>
          <p:nvPr/>
        </p:nvSpPr>
        <p:spPr>
          <a:xfrm>
            <a:off x="658368" y="2057400"/>
            <a:ext cx="2240280" cy="566928"/>
          </a:xfrm>
          <a:prstGeom prst="homePlate">
            <a:avLst/>
          </a:prstGeom>
          <a:solidFill>
            <a:srgbClr val="1C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17830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1  Scan / upload</a:t>
            </a:r>
          </a:p>
        </p:txBody>
      </p:sp>
      <p:sp>
        <p:nvSpPr>
          <p:cNvPr id="10" name="Chevron 9"/>
          <p:cNvSpPr/>
          <p:nvPr/>
        </p:nvSpPr>
        <p:spPr>
          <a:xfrm>
            <a:off x="2852928" y="2057400"/>
            <a:ext cx="2240280" cy="566928"/>
          </a:xfrm>
          <a:prstGeom prst="chevron">
            <a:avLst/>
          </a:prstGeom>
          <a:solidFill>
            <a:srgbClr val="1C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2130552"/>
            <a:ext cx="17830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2  Decode on phone</a:t>
            </a:r>
          </a:p>
        </p:txBody>
      </p:sp>
      <p:sp>
        <p:nvSpPr>
          <p:cNvPr id="12" name="Chevron 11"/>
          <p:cNvSpPr/>
          <p:nvPr/>
        </p:nvSpPr>
        <p:spPr>
          <a:xfrm>
            <a:off x="5047488" y="2057400"/>
            <a:ext cx="2240280" cy="566928"/>
          </a:xfrm>
          <a:prstGeom prst="chevron">
            <a:avLst/>
          </a:prstGeom>
          <a:solidFill>
            <a:srgbClr val="1C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2130552"/>
            <a:ext cx="17830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3  Analyze on server</a:t>
            </a:r>
          </a:p>
        </p:txBody>
      </p:sp>
      <p:sp>
        <p:nvSpPr>
          <p:cNvPr id="14" name="Chevron 13"/>
          <p:cNvSpPr/>
          <p:nvPr/>
        </p:nvSpPr>
        <p:spPr>
          <a:xfrm>
            <a:off x="7242047" y="2057400"/>
            <a:ext cx="2240280" cy="566928"/>
          </a:xfrm>
          <a:prstGeom prst="chevron">
            <a:avLst/>
          </a:prstGeom>
          <a:solidFill>
            <a:srgbClr val="1C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7" y="2130552"/>
            <a:ext cx="17830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4  Verdict + reasons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9436608" y="2057400"/>
            <a:ext cx="2240280" cy="566928"/>
          </a:xfrm>
          <a:prstGeom prst="chevron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0928" y="2130552"/>
            <a:ext cx="17830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04121A"/>
                </a:solidFill>
                <a:latin typeface="Segoe UI"/>
              </a:rPr>
              <a:t>5  Don’t open ·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880360"/>
            <a:ext cx="4572000" cy="2514600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2971800"/>
            <a:ext cx="42976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22C55E"/>
                </a:solidFill>
                <a:latin typeface="Segoe UI"/>
              </a:rPr>
              <a:t>✅ Built &amp; validated (working prototype)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64992"/>
            <a:ext cx="434340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•  140+ automated tests: UPI parser, homoglyphs, scoring, SSRF guard</a:t>
            </a:r>
          </a:p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•  14 printable demo QRs — every one gives the expected verdict</a:t>
            </a:r>
          </a:p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•  SSRF guard tested vs private IPs, cloud metadata, DNS rebinding, redirect loops</a:t>
            </a:r>
          </a:p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•  Verdict in ~0.1 s offline, &lt; 3 s with live checks</a:t>
            </a:r>
          </a:p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•  Demo mode: reserved .test domains, works with no internet</a:t>
            </a:r>
          </a:p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•  Installable PWA: Android &amp; iPhone browsers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2880360"/>
            <a:ext cx="6080760" cy="2514600"/>
          </a:xfrm>
          <a:prstGeom prst="roundRect">
            <a:avLst>
              <a:gd name="adj" fmla="val 8000"/>
            </a:avLst>
          </a:prstGeom>
          <a:solidFill>
            <a:srgbClr val="141E35">
              <a:alpha val="88000"/>
            </a:srgbClr>
          </a:solidFill>
          <a:ln w="12700">
            <a:solidFill>
              <a:srgbClr val="33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96128" y="2971800"/>
            <a:ext cx="5760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2DD4BF"/>
                </a:solidFill>
                <a:latin typeface="Segoe UI"/>
              </a:rPr>
              <a:t>📚 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3346704"/>
            <a:ext cx="580644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NPCI — UPI Linking Specification v1.6 (upi://pay parameters, signed QR)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RBI consumer advisory, 28 Jan 2022 — “receipt of money does not require scanning QR”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Lok Sabha USQ 2245, 9 Dec 2024 — QR-code fraud FY22–FY25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MoF Lok Sabha reply, Dec 2025 — UPI fraud ₹805 cr (Apr–Nov 2025)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NPCI circular, 29 Jul 2025 — P2P collect discontinued from 1 Oct 2025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RBI circular, Apr 2025 — exclusive .bank.in domain for banks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DoT advisory, Jan 2024 — *401# call-forwarding scam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Unicode TR39 confusables · OWASP SSRF Prevention Cheat Sheet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•  Interisle Phishing Landscape 2025 · Unit 42 newly-registered-domain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32120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8C4DE"/>
                </a:solidFill>
                <a:latin typeface="Segoe UI"/>
              </a:rPr>
              <a:t>LIVE DEMO SCENARIOS — every QR on our printed sheet gives the expected verdict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8521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SBI .bank.in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56232" y="58521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856232" y="5879592"/>
            <a:ext cx="960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Kirana UPI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9504" y="58521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889504" y="5879592"/>
            <a:ext cx="960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Home Wi-Fi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22776" y="5852160"/>
            <a:ext cx="130302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922776" y="5879592"/>
            <a:ext cx="13030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Café open Wi-Fi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98948" y="58521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298948" y="587959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‘Refund’ UPI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69380" y="5852160"/>
            <a:ext cx="130302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69380" y="5879592"/>
            <a:ext cx="13030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@okaxisbank KYC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45552" y="58521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845552" y="587959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AutoPay trap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15984" y="585216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15984" y="5879592"/>
            <a:ext cx="1234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onlinesbl.test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623620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85800" y="6263640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onlinesbі (Cyrillic)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04872" y="623620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404872" y="626364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Short link → fake HDFC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61104" y="6236208"/>
            <a:ext cx="116586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261104" y="6263640"/>
            <a:ext cx="11658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e-challan APK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00116" y="6236208"/>
            <a:ext cx="116586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500116" y="6263640"/>
            <a:ext cx="11658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Fake RailWire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39128" y="623620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739128" y="6263640"/>
            <a:ext cx="960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*401# code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6236208"/>
            <a:ext cx="1303020" cy="310896"/>
          </a:xfrm>
          <a:prstGeom prst="roundRect">
            <a:avLst>
              <a:gd name="adj" fmla="val 50000"/>
            </a:avLst>
          </a:prstGeom>
          <a:solidFill>
            <a:srgbClr val="1C294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72400" y="6263640"/>
            <a:ext cx="13030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Swapped sticker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